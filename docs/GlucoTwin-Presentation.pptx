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5"/>
    <p:sldMasterId id="2147483666" r:id="rId6"/>
    <p:sldMasterId id="2147483667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4993E49-8219-423B-8001-BB02724E4FCC}">
  <a:tblStyle styleId="{34993E49-8219-423B-8001-BB02724E4FC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6efbc106fe115828_4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h6efbc106fe115828_4_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h5d73f52d484d27ac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h5d73f52d484d27ac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h5d73f52d484d27ac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h5d73f52d484d27ac_2_2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h5d73f52d484d27ac_2_2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h5d73f52d484d27ac_2_2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5d73f52d484d27ac_2_4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5d73f52d484d27ac_2_4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5d73f52d484d27ac_2_4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5d73f52d484d27ac_2_5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h5d73f52d484d27ac_2_5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h5d73f52d484d27ac_2_5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h5d73f52d484d27ac_2_7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h5d73f52d484d27ac_2_7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h5d73f52d484d27ac_2_7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5d73f52d484d27ac_2_8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h5d73f52d484d27ac_2_8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h5d73f52d484d27ac_2_8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5d73f52d484d27ac_2_9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5d73f52d484d27ac_2_9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5d73f52d484d27ac_2_9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h5d73f52d484d27ac_2_1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h5d73f52d484d27ac_2_1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5d73f52d484d27ac_2_1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5d73f52d484d27ac_2_13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h5d73f52d484d27ac_2_13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h5d73f52d484d27ac_2_13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5d73f52d484d27ac_2_14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h5d73f52d484d27ac_2_14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h5d73f52d484d27ac_2_14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h6efbc106fe115828_4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h6efbc106fe115828_4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01688" y="344452"/>
            <a:ext cx="5153977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>
                <a:solidFill>
                  <a:srgbClr val="0A29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950836" y="1087488"/>
            <a:ext cx="4697730" cy="196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rgbClr val="1E283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401688" y="344452"/>
            <a:ext cx="5153977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>
                <a:solidFill>
                  <a:srgbClr val="0A29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438" y="1183005"/>
            <a:ext cx="3979712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4711613" y="1183005"/>
            <a:ext cx="3979711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ctrTitle"/>
          </p:nvPr>
        </p:nvSpPr>
        <p:spPr>
          <a:xfrm>
            <a:off x="686157" y="1594485"/>
            <a:ext cx="7776448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>
                <a:solidFill>
                  <a:srgbClr val="0A29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1372314" y="2880360"/>
            <a:ext cx="6404134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>
                <a:solidFill>
                  <a:srgbClr val="1E283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01688" y="344452"/>
            <a:ext cx="5153977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>
                <a:solidFill>
                  <a:srgbClr val="0A29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476" cy="5143500"/>
          </a:xfrm>
          <a:custGeom>
            <a:rect b="b" l="l" r="r" t="t"/>
            <a:pathLst>
              <a:path extrusionOk="0" h="6858000" w="12192635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F6F4E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1688" y="344452"/>
            <a:ext cx="5153977" cy="3395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2100" u="none" cap="none" strike="noStrike">
                <a:solidFill>
                  <a:srgbClr val="0A29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950836" y="1087488"/>
            <a:ext cx="4697730" cy="1962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1E283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401688" y="4875293"/>
            <a:ext cx="248126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438" y="4783455"/>
            <a:ext cx="210421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24268" y="4875293"/>
            <a:ext cx="201453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27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A71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>
            <a:off x="0" y="0"/>
            <a:ext cx="9144476" cy="5143500"/>
          </a:xfrm>
          <a:custGeom>
            <a:rect b="b" l="l" r="r" t="t"/>
            <a:pathLst>
              <a:path extrusionOk="0" h="6858000" w="12192635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0A29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descr="$PPTXTitle" id="92" name="Google Shape;92;p21"/>
          <p:cNvSpPr txBox="1"/>
          <p:nvPr>
            <p:ph type="title"/>
          </p:nvPr>
        </p:nvSpPr>
        <p:spPr>
          <a:xfrm>
            <a:off x="485173" y="749323"/>
            <a:ext cx="2511300" cy="7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>
                <a:solidFill>
                  <a:srgbClr val="FFFFFF"/>
                </a:solidFill>
              </a:rPr>
              <a:t>GlucoTwin</a:t>
            </a:r>
            <a:endParaRPr sz="4500"/>
          </a:p>
        </p:txBody>
      </p:sp>
      <p:sp>
        <p:nvSpPr>
          <p:cNvPr id="93" name="Google Shape;93;p21"/>
          <p:cNvSpPr txBox="1"/>
          <p:nvPr/>
        </p:nvSpPr>
        <p:spPr>
          <a:xfrm>
            <a:off x="485173" y="1703228"/>
            <a:ext cx="45405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CEECE8"/>
                </a:solidFill>
                <a:latin typeface="Calibri"/>
                <a:ea typeface="Calibri"/>
                <a:cs typeface="Calibri"/>
                <a:sym typeface="Calibri"/>
              </a:rPr>
              <a:t>An explainable, personalized glucose Digital Twin for type 2 diabetes care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1"/>
          <p:cNvSpPr txBox="1"/>
          <p:nvPr/>
        </p:nvSpPr>
        <p:spPr>
          <a:xfrm>
            <a:off x="422551" y="2621875"/>
            <a:ext cx="5142900" cy="12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 Twin Challenge 2026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Team Name : Coffee &amp; Panic</a:t>
            </a:r>
            <a:endParaRPr i="1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Institution : Marathwada Mitra Mandal’s College of Engineering , Pune</a:t>
            </a:r>
            <a:endParaRPr i="1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Team Members : Jidnyasa Patil , Sajiree Damle </a:t>
            </a:r>
            <a:endParaRPr i="1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1"/>
          <p:cNvSpPr txBox="1"/>
          <p:nvPr/>
        </p:nvSpPr>
        <p:spPr>
          <a:xfrm>
            <a:off x="1419388" y="4474775"/>
            <a:ext cx="6305700" cy="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All demonstration patients and all reported results are SYNTHETIC. Not clinically validated. Not a medical device.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regiver or healthcare worker with senior woman patient, measuring blood glucose indoors. (Provided by Getty Images)" id="96" name="Google Shape;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750" y="1454651"/>
            <a:ext cx="3041649" cy="241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Healthcare problem: diabetes at national scale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Type 2 diabetes dominates; day-to-day glucose between clinic visits is largely invisible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480060" y="123444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3300"/>
              <a:buFont typeface="Calibri"/>
              <a:buNone/>
            </a:pPr>
            <a:r>
              <a:rPr b="1" i="0" lang="en" sz="33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~101 million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480060" y="1920240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people with diabetes in India (11.4% of the population), ICMR-INDIAB estimate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2"/>
          <p:cNvSpPr/>
          <p:nvPr/>
        </p:nvSpPr>
        <p:spPr>
          <a:xfrm>
            <a:off x="3291840" y="123444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3300"/>
              <a:buFont typeface="Calibri"/>
              <a:buNone/>
            </a:pPr>
            <a:r>
              <a:rPr b="1" i="0" lang="en" sz="33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~136 million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3291840" y="1920240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people with prediabetes (15.3%), a pool that can convert to diabetes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2"/>
          <p:cNvSpPr/>
          <p:nvPr/>
        </p:nvSpPr>
        <p:spPr>
          <a:xfrm>
            <a:off x="6103620" y="1234440"/>
            <a:ext cx="2606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3300"/>
              <a:buFont typeface="Calibri"/>
              <a:buNone/>
            </a:pPr>
            <a:r>
              <a:rPr b="1" i="0" lang="en" sz="33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113,043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6103620" y="1920240"/>
            <a:ext cx="260604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survey participants across states and UTs, 2008-2020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2"/>
          <p:cNvSpPr/>
          <p:nvPr/>
        </p:nvSpPr>
        <p:spPr>
          <a:xfrm>
            <a:off x="480060" y="2880360"/>
            <a:ext cx="8229600" cy="144018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>
            <a:off x="617220" y="2962656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Why forecasting + a twin?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617220" y="3257550"/>
            <a:ext cx="7955280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Continuous glucose monitors produce a reading every few minutes, but clinicians see snapshots. A continuously updated, explainable patient state with honest uncertainty could help a clinician review where a patient is heading. This is our motivation, not a demonstrated benefit.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/>
          <p:nvPr/>
        </p:nvSpPr>
        <p:spPr>
          <a:xfrm>
            <a:off x="480060" y="442341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Source: Anjana et al., Lancet Diabetes Endocrinol 2023 (DOI 10.1016/S2213-8587(23)00119-5), figures as reported by secondary coverage and a Natl Med J India commentary; verify against the paper.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Existing solutions and literature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What we found - and what we could not verify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3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3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411480" y="1165860"/>
            <a:ext cx="4046220" cy="157734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3"/>
          <p:cNvSpPr/>
          <p:nvPr/>
        </p:nvSpPr>
        <p:spPr>
          <a:xfrm>
            <a:off x="548640" y="12481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Digital twins for health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3"/>
          <p:cNvSpPr/>
          <p:nvPr/>
        </p:nvSpPr>
        <p:spPr>
          <a:xfrm>
            <a:off x="548640" y="1543050"/>
            <a:ext cx="377190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Scoping reviews (e.g. Katsoulakis et al., npj Digit Med 2024) survey health digital twins and their applications. We use the working idea of a personalised, continuously updated, predictive patient model.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4663440" y="1165860"/>
            <a:ext cx="4046220" cy="157734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3"/>
          <p:cNvSpPr/>
          <p:nvPr/>
        </p:nvSpPr>
        <p:spPr>
          <a:xfrm>
            <a:off x="4800600" y="12481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CGM forecasting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/>
          <p:nvPr/>
        </p:nvSpPr>
        <p:spPr>
          <a:xfrm>
            <a:off x="4800600" y="1543050"/>
            <a:ext cx="3771900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Published work forecasts glucose from CGM history (e.g. GARNN, arXiv 2402.16230; a Bayesian T2DM approach, arXiv 2409.07315). We did not reproduce them; we benchmark only against persistence and ridge.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411480" y="2880360"/>
            <a:ext cx="4046220" cy="17145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/>
          <p:nvPr/>
        </p:nvSpPr>
        <p:spPr>
          <a:xfrm>
            <a:off x="548640" y="29626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Open datasets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548640" y="3257550"/>
            <a:ext cx="3771900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DiaTrend: type 1, controlled access. ShanghaiT2DM: type 2, 15-min CGM, public but licence terms conflict across sources. Glucose-ML (2025) surveys these collections.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4663440" y="2880360"/>
            <a:ext cx="4046220" cy="1714500"/>
          </a:xfrm>
          <a:prstGeom prst="roundRect">
            <a:avLst>
              <a:gd fmla="val 4800" name="adj"/>
            </a:avLst>
          </a:prstGeom>
          <a:solidFill>
            <a:srgbClr val="FFFFFF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4800600" y="29626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Other challenge entries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800600" y="3257550"/>
            <a:ext cx="3771900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Public repositories exist for this challenge, including one already named 'GlucoTwin' and one 'ThaliTwin'. We did not audit their claims; we flag the name conflict.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Research gaps and our contribution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4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A small, carefully evaluated proof of concept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4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4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411480" y="1165860"/>
            <a:ext cx="4046220" cy="336042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4"/>
          <p:cNvSpPr/>
          <p:nvPr/>
        </p:nvSpPr>
        <p:spPr>
          <a:xfrm>
            <a:off x="548640" y="12481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Gaps we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548640" y="1543050"/>
            <a:ext cx="37719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Leakage-resistant, patient-level evaluation against simple baselines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Explicit behaviour for stale, missing and corrupt input (abstain, not guess)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Explanations that are faithful to the model, with causal limits stated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What-if tools that do not invent physiology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4663440" y="1165860"/>
            <a:ext cx="4046220" cy="3360420"/>
          </a:xfrm>
          <a:prstGeom prst="roundRect">
            <a:avLst>
              <a:gd fmla="val 2449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4800600" y="124815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What this repository contributes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4800600" y="1543050"/>
            <a:ext cx="3771900" cy="2914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Twin state engine: validation, quarantine, forecast history, audit, restart-safe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Per-horizon forecasts (15-120 min) with conformal intervals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Exact additive explanations and revision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Scenario lab limited to supported inputs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54 tests; reproducible results with ablations reported even when negative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Problem statement and intended outcome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One localised outcome, not the whole body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411480" y="1165860"/>
            <a:ext cx="8298180" cy="1097280"/>
          </a:xfrm>
          <a:prstGeom prst="roundRect">
            <a:avLst>
              <a:gd fmla="val 7500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5"/>
          <p:cNvSpPr/>
          <p:nvPr/>
        </p:nvSpPr>
        <p:spPr>
          <a:xfrm>
            <a:off x="548640" y="1248156"/>
            <a:ext cx="80238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Primary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5"/>
          <p:cNvSpPr/>
          <p:nvPr/>
        </p:nvSpPr>
        <p:spPr>
          <a:xfrm>
            <a:off x="548640" y="1543050"/>
            <a:ext cx="80238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Given the last 60 minutes of CGM readings (15-min grid) plus patient history, forecast glucose for the next 15-120 minutes with an uncertainty interval, an explanation and a data-quality status.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411480" y="2400300"/>
            <a:ext cx="4046220" cy="212598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/>
        </p:nvSpPr>
        <p:spPr>
          <a:xfrm>
            <a:off x="548640" y="248259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Intended outcome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5"/>
          <p:cNvSpPr/>
          <p:nvPr/>
        </p:nvSpPr>
        <p:spPr>
          <a:xfrm>
            <a:off x="548640" y="2777490"/>
            <a:ext cx="377190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working data-to-forecast loop that a clinician-facing dashboard can show, test and audit - and an honest benchmark.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4663440" y="2400300"/>
            <a:ext cx="4046220" cy="212598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4800600" y="248259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Explicitly out of scope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800600" y="2777490"/>
            <a:ext cx="3771900" cy="1680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Diagnosis, treatment or insulin/medication advice. Alarms. Any claim of clinical validation.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Data sources, privacy and limitations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Research found hard limits; we documented a safe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6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6"/>
          <p:cNvGraphicFramePr/>
          <p:nvPr/>
        </p:nvGraphicFramePr>
        <p:xfrm>
          <a:off x="411480" y="116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{34993E49-8219-423B-8001-BB02724E4FCC}</a:tableStyleId>
              </a:tblPr>
              <a:tblGrid>
                <a:gridCol w="1440175"/>
                <a:gridCol w="1714500"/>
                <a:gridCol w="3566150"/>
                <a:gridCol w="1577325"/>
              </a:tblGrid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Population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finding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Used?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DiaTrend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1, CGM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Controlled access (Synapse + agreement); no redistribution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ShanghaiT2DM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2, 15-min CGM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Public, but licence terms conflict across sources; host unreachable from the build sandbox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Adapter only (untested on real files)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Synthetic cohort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T2D-like, 100 pts x 14 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Generated here, seeded, MIT, labelled SYNTHETIC on every record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 - all results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26"/>
          <p:cNvSpPr/>
          <p:nvPr/>
        </p:nvSpPr>
        <p:spPr>
          <a:xfrm>
            <a:off x="480060" y="3360420"/>
            <a:ext cx="822960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No real patient data in the repository, logs or figures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Static-to-glucose links in the synthetic data exist by construction: they cannot validate physiology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b="0" i="0" lang="en" sz="12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Real-data results must be produced and reported separately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480060" y="432054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No result in this deck says anything about real patients.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Architecture and data fusion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History + stream -&gt; quality gate -&gt; twin state -&gt; forecast -&gt; explanation -&gt; dashboard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architecture.png" id="191" name="Google Shape;1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" y="1062990"/>
            <a:ext cx="7886700" cy="3669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8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Dynamic update workflow and dashboard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Every new reading updates state, forecast, explanation and audit trail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/>
          <p:nvPr/>
        </p:nvSpPr>
        <p:spPr>
          <a:xfrm>
            <a:off x="822960" y="1062990"/>
            <a:ext cx="342900" cy="342900"/>
          </a:xfrm>
          <a:prstGeom prst="ellipse">
            <a:avLst/>
          </a:prstGeom>
          <a:solidFill>
            <a:srgbClr val="0E8F8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8"/>
          <p:cNvSpPr/>
          <p:nvPr/>
        </p:nvSpPr>
        <p:spPr>
          <a:xfrm>
            <a:off x="82296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41148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New reading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/>
          <p:nvPr/>
        </p:nvSpPr>
        <p:spPr>
          <a:xfrm>
            <a:off x="2228850" y="1062990"/>
            <a:ext cx="342900" cy="342900"/>
          </a:xfrm>
          <a:prstGeom prst="ellipse">
            <a:avLst/>
          </a:prstGeom>
          <a:solidFill>
            <a:srgbClr val="0E8F8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8"/>
          <p:cNvSpPr/>
          <p:nvPr/>
        </p:nvSpPr>
        <p:spPr>
          <a:xfrm>
            <a:off x="222885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181737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3634740" y="1062990"/>
            <a:ext cx="342900" cy="342900"/>
          </a:xfrm>
          <a:prstGeom prst="ellipse">
            <a:avLst/>
          </a:prstGeom>
          <a:solidFill>
            <a:srgbClr val="0E8F8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8"/>
          <p:cNvSpPr/>
          <p:nvPr/>
        </p:nvSpPr>
        <p:spPr>
          <a:xfrm>
            <a:off x="363474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322326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Append / quarantine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5040630" y="1062990"/>
            <a:ext cx="342900" cy="342900"/>
          </a:xfrm>
          <a:prstGeom prst="ellipse">
            <a:avLst/>
          </a:prstGeom>
          <a:solidFill>
            <a:srgbClr val="0E8F8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/>
          <p:nvPr/>
        </p:nvSpPr>
        <p:spPr>
          <a:xfrm>
            <a:off x="504063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62915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Quality check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/>
          <p:nvPr/>
        </p:nvSpPr>
        <p:spPr>
          <a:xfrm>
            <a:off x="6446520" y="1062990"/>
            <a:ext cx="342900" cy="342900"/>
          </a:xfrm>
          <a:prstGeom prst="ellipse">
            <a:avLst/>
          </a:prstGeom>
          <a:solidFill>
            <a:srgbClr val="C2410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/>
          <p:nvPr/>
        </p:nvSpPr>
        <p:spPr>
          <a:xfrm>
            <a:off x="644652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603504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Forecast or withhold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8"/>
          <p:cNvSpPr/>
          <p:nvPr/>
        </p:nvSpPr>
        <p:spPr>
          <a:xfrm>
            <a:off x="7852410" y="1062990"/>
            <a:ext cx="342900" cy="342900"/>
          </a:xfrm>
          <a:prstGeom prst="ellipse">
            <a:avLst/>
          </a:prstGeom>
          <a:solidFill>
            <a:srgbClr val="0E8F8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"/>
          <p:cNvSpPr/>
          <p:nvPr/>
        </p:nvSpPr>
        <p:spPr>
          <a:xfrm>
            <a:off x="7852410" y="106299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8"/>
          <p:cNvSpPr/>
          <p:nvPr/>
        </p:nvSpPr>
        <p:spPr>
          <a:xfrm>
            <a:off x="7440930" y="1440180"/>
            <a:ext cx="126873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Explain + audit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figures/demo_forecast.png" id="219" name="Google Shape;2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851660"/>
            <a:ext cx="294894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s/figures/demo_explanation.png" id="220" name="Google Shape;2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4710" y="1851660"/>
            <a:ext cx="288036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s/figures/demo_scenario.png" id="221" name="Google Shape;2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77940" y="1851660"/>
            <a:ext cx="2743200" cy="1303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8"/>
          <p:cNvSpPr/>
          <p:nvPr/>
        </p:nvSpPr>
        <p:spPr>
          <a:xfrm>
            <a:off x="480060" y="3394710"/>
            <a:ext cx="82296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Six tabs: overview, forecast, explanation, scenario lab, quality + audit, model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Explanations are exact additive terms of the model output; scenario lab is labelled HYPOTHETICAL, meal/exercise/drug controls disabled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Replay of a recorded SYNTHETIC stream; there is no live-device connection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Model evaluation and baseline comparison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Held-out SYNTHETIC test: 20 patients, 20,825 windows, identical cases for all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figures/mae_by_horizon.png" id="232" name="Google Shape;2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97280"/>
            <a:ext cx="3840480" cy="21945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3" name="Google Shape;233;p29"/>
          <p:cNvGraphicFramePr/>
          <p:nvPr/>
        </p:nvGraphicFramePr>
        <p:xfrm>
          <a:off x="4389120" y="11658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{34993E49-8219-423B-8001-BB02724E4FCC}</a:tableStyleId>
              </a:tblPr>
              <a:tblGrid>
                <a:gridCol w="1645900"/>
                <a:gridCol w="685800"/>
                <a:gridCol w="685800"/>
                <a:gridCol w="685800"/>
                <a:gridCol w="685800"/>
              </a:tblGrid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 mg/dL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+15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+30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+60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+120 min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A3A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Persistence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Ridge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LightGBM (CGM only)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88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LightGBM + time of day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10.9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F3EF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29"/>
          <p:cNvSpPr/>
          <p:nvPr/>
        </p:nvSpPr>
        <p:spPr>
          <a:xfrm>
            <a:off x="411480" y="3429000"/>
            <a:ext cx="8366760" cy="891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603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Primary vs persistence at +60 min: -8.44 [-11.12, -6.24] mg/dL (95% patient-bootstrap CI); better for 20 of 20 patients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Ablations vs CGM-only at +60 min: time of day -2.11 [-2.70, -1.47] (expected by construction: synthetic meals are scheduled); personal baseline -0.05 [-1.02, 1.04]; static EHR +0.05 [-0.73, 0.86] - no reliable gain at +60 min (personal baseline helps only ~0.3 mg/dL at +15 min)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9"/>
          <p:cNvSpPr/>
          <p:nvPr/>
        </p:nvSpPr>
        <p:spPr>
          <a:xfrm>
            <a:off x="411480" y="4389120"/>
            <a:ext cx="82981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Synthetic data: shows the pipeline works and recovers the generator's dynamics - not clinical accuracy. Preliminary.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Tests, data-quality behaviour and uncertainty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/>
          <p:nvPr/>
        </p:nvSpPr>
        <p:spPr>
          <a:xfrm>
            <a:off x="411480" y="740664"/>
            <a:ext cx="831875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Fail safe, show uncertainty, admit misses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0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s/figures/demo_withheld.png" id="245" name="Google Shape;24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1097280"/>
            <a:ext cx="3154680" cy="12618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cs/figures/demo_forecast.png" id="246" name="Google Shape;24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" y="2468880"/>
            <a:ext cx="3154680" cy="147447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0"/>
          <p:cNvSpPr/>
          <p:nvPr/>
        </p:nvSpPr>
        <p:spPr>
          <a:xfrm>
            <a:off x="3703320" y="1097280"/>
            <a:ext cx="50749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65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Stale (&gt; 20 min) or incomplete 60-min window: forecast withheld; 6.4% of observed test origins (synthetic missingness)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Rejected / quarantined: naive or future timestamps, NaN, out-of-range values, conflicting duplicates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80% intervals: coverage 78-80% on test; per patient 71-85% (marginal guarantee only)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Hardest case: flat glucose before a meal (MAE 22.6 vs 12.1 mg/dL rising, +120 min); bottom-left: a breakfast spike escaping the interval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Char char="•"/>
            </a:pPr>
            <a:r>
              <a:rPr b="0" i="0" lang="en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54 automated tests incl. leakage, restart, offline, additivity, dashboard; mutation-checked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0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1"/>
          <p:cNvSpPr/>
          <p:nvPr/>
        </p:nvSpPr>
        <p:spPr>
          <a:xfrm>
            <a:off x="411480" y="240030"/>
            <a:ext cx="831875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2A3A"/>
              </a:buClr>
              <a:buSzPts val="2100"/>
              <a:buFont typeface="Calibri"/>
              <a:buNone/>
            </a:pPr>
            <a:r>
              <a:rPr b="1" i="0" lang="en" sz="2100" u="none" cap="none" strike="noStrike">
                <a:solidFill>
                  <a:srgbClr val="0B2A3A"/>
                </a:solidFill>
                <a:latin typeface="Calibri"/>
                <a:ea typeface="Calibri"/>
                <a:cs typeface="Calibri"/>
                <a:sym typeface="Calibri"/>
              </a:rPr>
              <a:t>Limitations, responsible use and next steps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>
            <a:off x="411480" y="483489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SYNTHETIC data  |  research prototype  |  not clinically validated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>
            <a:off x="8455914" y="4834890"/>
            <a:ext cx="27432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>
            <a:off x="411480" y="1028700"/>
            <a:ext cx="4046220" cy="356616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9050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1"/>
          <p:cNvSpPr/>
          <p:nvPr/>
        </p:nvSpPr>
        <p:spPr>
          <a:xfrm>
            <a:off x="548640" y="111099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2410C"/>
                </a:solidFill>
                <a:latin typeface="Calibri"/>
                <a:ea typeface="Calibri"/>
                <a:cs typeface="Calibri"/>
                <a:sym typeface="Calibri"/>
              </a:rPr>
              <a:t>Not claimed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548640" y="1405890"/>
            <a:ext cx="377190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Clinical validation or real-patient accuracy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Benefit for type 2 populations (data are synthetic)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Causal effects of food, exercise or drugs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Use for diagnosis, treatment or medication decisions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That time-of-day or EHR gains transfer to real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4663440" y="1028700"/>
            <a:ext cx="4046220" cy="356616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9050">
            <a:solidFill>
              <a:srgbClr val="0E8F8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4800600" y="1110996"/>
            <a:ext cx="37719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8F8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E8F86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>
            <a:off x="4800600" y="1405890"/>
            <a:ext cx="3771900" cy="312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1. Run the ShanghaiT2DM adapter locally; verify columns, units, licence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2. Re-train and evaluate; report real-data results separately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3. Add meal/activity inputs only if real data support them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4. Clinician review and prospective evaluation before any clinical use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5. Resolve the project-name conflict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/>
          <p:nvPr/>
        </p:nvSpPr>
        <p:spPr>
          <a:xfrm>
            <a:off x="0" y="0"/>
            <a:ext cx="9144476" cy="5143500"/>
          </a:xfrm>
          <a:custGeom>
            <a:rect b="b" l="l" r="r" t="t"/>
            <a:pathLst>
              <a:path extrusionOk="0" h="6858000" w="12192635">
                <a:moveTo>
                  <a:pt x="12192114" y="0"/>
                </a:moveTo>
                <a:lnTo>
                  <a:pt x="0" y="0"/>
                </a:lnTo>
                <a:lnTo>
                  <a:pt x="0" y="6858000"/>
                </a:lnTo>
                <a:lnTo>
                  <a:pt x="12192114" y="6858000"/>
                </a:lnTo>
                <a:lnTo>
                  <a:pt x="12192114" y="0"/>
                </a:lnTo>
                <a:close/>
              </a:path>
            </a:pathLst>
          </a:custGeom>
          <a:solidFill>
            <a:srgbClr val="0A293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descr="$PPTXTitle" id="267" name="Google Shape;267;p32"/>
          <p:cNvSpPr txBox="1"/>
          <p:nvPr>
            <p:ph type="title"/>
          </p:nvPr>
        </p:nvSpPr>
        <p:spPr>
          <a:xfrm>
            <a:off x="538851" y="527225"/>
            <a:ext cx="2522100" cy="4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FFFFF"/>
                </a:solidFill>
              </a:rPr>
              <a:t>Conclusion</a:t>
            </a:r>
            <a:endParaRPr sz="2900"/>
          </a:p>
        </p:txBody>
      </p:sp>
      <p:sp>
        <p:nvSpPr>
          <p:cNvPr id="268" name="Google Shape;268;p32"/>
          <p:cNvSpPr txBox="1"/>
          <p:nvPr/>
        </p:nvSpPr>
        <p:spPr>
          <a:xfrm>
            <a:off x="519798" y="1156058"/>
            <a:ext cx="7624200" cy="10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-260350" lvl="0" marL="292100" marR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EECE8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CEECE8"/>
                </a:solidFill>
                <a:latin typeface="Calibri"/>
                <a:ea typeface="Calibri"/>
                <a:cs typeface="Calibri"/>
                <a:sym typeface="Calibri"/>
              </a:rPr>
              <a:t>A reproducible twin pipeline: fused history + stream, versioned forecasts, explanations, safe withholding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92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EECE8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CEECE8"/>
                </a:solidFill>
                <a:latin typeface="Calibri"/>
                <a:ea typeface="Calibri"/>
                <a:cs typeface="Calibri"/>
                <a:sym typeface="Calibri"/>
              </a:rPr>
              <a:t>On held-out synthetic patients it beats persistence and ridge; value on real patients is untested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921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EECE8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CEECE8"/>
                </a:solidFill>
                <a:latin typeface="Calibri"/>
                <a:ea typeface="Calibri"/>
                <a:cs typeface="Calibri"/>
                <a:sym typeface="Calibri"/>
              </a:rPr>
              <a:t>Negative and null findings are reported alongside positives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2"/>
          <p:cNvSpPr txBox="1"/>
          <p:nvPr/>
        </p:nvSpPr>
        <p:spPr>
          <a:xfrm>
            <a:off x="538850" y="2782600"/>
            <a:ext cx="7781700" cy="10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Repository: https://github.com/Jidnyasa-P/GlucoTwin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Demo video (unlisted): https://youtu.be/1czyEqa0aPc</a:t>
            </a:r>
            <a:endParaRPr i="1" sz="1700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Team : Coffee &amp; Panic</a:t>
            </a:r>
            <a:endParaRPr i="1" sz="1700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Institute : Marathwada Mitra Mandal’s College of Engineering , Pune</a:t>
            </a:r>
            <a:endParaRPr i="1" sz="1700">
              <a:solidFill>
                <a:srgbClr val="F5C18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538851" y="4510550"/>
            <a:ext cx="57066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5C18A"/>
                </a:solidFill>
                <a:latin typeface="Calibri"/>
                <a:ea typeface="Calibri"/>
                <a:cs typeface="Calibri"/>
                <a:sym typeface="Calibri"/>
              </a:rPr>
              <a:t>Research proof of concept. Synthetic data. Not clinically validated. Not a medical device.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