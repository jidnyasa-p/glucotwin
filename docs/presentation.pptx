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097280"/>
            <a:ext cx="3291840" cy="3291840"/>
          </a:xfrm>
          <a:prstGeom prst="ellipse">
            <a:avLst/>
          </a:prstGeom>
          <a:solidFill>
            <a:srgbClr val="0E8F86">
              <a:alpha val="45000"/>
            </a:srgbClr>
          </a:solidFill>
          <a:ln w="12700">
            <a:solidFill>
              <a:srgbClr val="0E8F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2926080"/>
            <a:ext cx="2194560" cy="219456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544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GlucoTwin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F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explainable, personalized glucose Digital Twin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CF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type 2 diabetes care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Challenge 2026  |  research proof of concept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6C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 / INSTITUTION / MEMBERS - to be filled before submission]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C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demonstration patients and all reported results are SYNTHETIC. Not clinically validated. Not a medical device.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problem: diabetes at national scale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 diabetes dominates; day-to-day glucose between clinic visits is largely invisible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 |  research prototype  |  not clinically validated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~101 million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with diabetes in India (11.4% of the population), ICMR-INDIAB estimate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389120" y="16459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~136 million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389120" y="25603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with prediabetes (15.3%), a pool that can convert to diabetes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38160" y="16459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113,043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138160" y="25603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participants across states and UTs, 2008-2020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109728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0E8F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95020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forecasting + a twin?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4343400"/>
            <a:ext cx="10607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glucose monitors produce a reading every few minutes, but clinicians see snapshots. A continuously updated, explainable patient state with honest uncertainty could help a clinician review where a patient is heading. This is our motivation, not a demonstrated benefit.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Anjana et al., Lancet Diabetes Endocrinol 2023 (DOI 10.1016/S2213-8587(23)00119-5), figures as reported by secondary coverage and a Natl Med J India commentary; verify against the paper.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and literature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 - and what we could not verify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 |  research prototype  |  not clinically validated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0E8F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64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twins for health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Scoping reviews (e.g. Katsoulakis et al., npj Digit Med 2024) survey health digital twins and their applications. We use the working idea of a personalised, continuously updated, predictive patient model.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0E8F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664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CGM forecasting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0" y="205740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work forecasts glucose from CGM history (e.g. GARNN, arXiv 2402.16230; a Bayesian T2DM approach, arXiv 2409.07315). We did not reproduce them; we benchmark only against persistence and ridge.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9050">
            <a:solidFill>
              <a:srgbClr val="0E8F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950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datasets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434340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DiaTrend: type 1, controlled access. ShanghaiT2DM: type 2, 15-min CGM, public but licence terms conflict across sources. Glucose-ML (2025) surveys these collections.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0" y="384048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3950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challenge entries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0" y="434340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repositories exist for this challenge, including one already named 'GlucoTwin' and one 'ThaliTwin'. We did not audit their claims; we flag the name conflict.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gaps and our contribution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carefully evaluated proof of concept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 |  research prototype  |  not clinically validated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64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we target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50292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Leakage-resistant, patient-level evaluation against simple baselines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behaviour for stale, missing and corrupt input (abstain, not guess)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 that are faithful to the model, with causal limits stated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tools that do not invent physiology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9050">
            <a:solidFill>
              <a:srgbClr val="0E8F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664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repository contributes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0" y="2057400"/>
            <a:ext cx="50292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 state engine: validation, quarantine, forecast history, audit, restart-safe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Per-horizon forecasts (15-120 min) with conformal intervals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additive explanations and revision tracking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lab limited to supported inputs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tests; reproducible results with ablations reported even when negative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and intended outcome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localised outcome, not the whole body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 |  research prototype  |  not clinically validated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0E8F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6420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task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the last 60 minutes of CGM readings (15-min grid) plus patient history, forecast glucose for the next 15-120 minutes with an uncertainty interval, an explanation and a data-quality status.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539496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0E8F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3101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Intended outcome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3703320"/>
            <a:ext cx="5029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data-to-forecast loop that a clinician-facing dashboard can show, test and audit - and an honest benchmark.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00400"/>
            <a:ext cx="539496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33101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out of scope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3703320"/>
            <a:ext cx="5029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Diagnosis, treatment or insulin/medication advice. Alarms. Any claim of clinical validation.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sources, privacy and limitations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found hard limits; we documented a safe fallback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 |  research prototype  |  not clinically validated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286000"/>
                <a:gridCol w="4754880"/>
                <a:gridCol w="210312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finding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DiaTrend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1, CGM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Controlled access (Synapse + agreement); no redistribution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ShanghaiT2DM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2, 15-min CGM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Public, but licence terms conflict across sources; host unreachable from the build sandbox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Adapter only (untested on real files)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cohort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T2D-like, 100 pts x 14 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Generated here, seeded, MIT, labelled SYNTHETIC on every record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- all results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448056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patient data in the repository, logs or figures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Static-to-glucose links in the synthetic data exist by construction: they cannot validate physiology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Real-data results must be produced and reported separately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result in this deck says anything about real patients.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and data fusion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+ stream -&gt; quality gate -&gt; twin state -&gt; forecast -&gt; explanation -&gt; dashboard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 |  research prototype  |  not clinically validated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6" name="Image 0" descr="doc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7320"/>
            <a:ext cx="1051560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update workflow and 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reading updates state, forecast, explanation and audit trail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 |  research prototype  |  not clinically validated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7280" y="1417320"/>
            <a:ext cx="457200" cy="457200"/>
          </a:xfrm>
          <a:prstGeom prst="ellipse">
            <a:avLst/>
          </a:prstGeom>
          <a:solidFill>
            <a:srgbClr val="0E8F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reading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71800" y="1417320"/>
            <a:ext cx="457200" cy="457200"/>
          </a:xfrm>
          <a:prstGeom prst="ellipse">
            <a:avLst/>
          </a:prstGeom>
          <a:solidFill>
            <a:srgbClr val="0E8F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718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23160" y="19202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417320"/>
            <a:ext cx="457200" cy="457200"/>
          </a:xfrm>
          <a:prstGeom prst="ellipse">
            <a:avLst/>
          </a:prstGeom>
          <a:solidFill>
            <a:srgbClr val="0E8F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97680" y="19202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/ quarantine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20840" y="1417320"/>
            <a:ext cx="457200" cy="457200"/>
          </a:xfrm>
          <a:prstGeom prst="ellipse">
            <a:avLst/>
          </a:prstGeom>
          <a:solidFill>
            <a:srgbClr val="0E8F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72200" y="19202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595360" y="1417320"/>
            <a:ext cx="457200" cy="45720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46720" y="19202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or withhold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469880" y="1417320"/>
            <a:ext cx="457200" cy="457200"/>
          </a:xfrm>
          <a:prstGeom prst="ellipse">
            <a:avLst/>
          </a:prstGeom>
          <a:solidFill>
            <a:srgbClr val="0E8F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698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921240" y="19202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+ audit</a:t>
            </a:r>
            <a:endParaRPr lang="en-US" sz="1200" dirty="0"/>
          </a:p>
        </p:txBody>
      </p:sp>
      <p:pic>
        <p:nvPicPr>
          <p:cNvPr id="24" name="Image 0" descr="docs/figures/demo_foreca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468880"/>
            <a:ext cx="3931920" cy="1828800"/>
          </a:xfrm>
          <a:prstGeom prst="rect">
            <a:avLst/>
          </a:prstGeom>
        </p:spPr>
      </p:pic>
      <p:pic>
        <p:nvPicPr>
          <p:cNvPr id="25" name="Image 1" descr="docs/figures/demo_explan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468880"/>
            <a:ext cx="3840480" cy="1828800"/>
          </a:xfrm>
          <a:prstGeom prst="rect">
            <a:avLst/>
          </a:prstGeom>
        </p:spPr>
      </p:pic>
      <p:pic>
        <p:nvPicPr>
          <p:cNvPr id="26" name="Image 2" descr="docs/figures/demo_scenari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468880"/>
            <a:ext cx="3657600" cy="173736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40080" y="452628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tabs: overview, forecast, explanation, scenario lab, quality + audit, model performance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 are exact additive terms of the model output; scenario lab is labelled HYPOTHETICAL, meal/exercise/drug controls disabled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of a recorded SYNTHETIC stream; there is no live-device connection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and baseline comparison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SYNTHETIC test: 20 patients, 20,825 windows, identical cases for all models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 |  research prototype  |  not clinically validated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6" name="Image 0" descr="docs/figures/mae_by_horiz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5120640" cy="2926080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554480"/>
          <a:ext cx="58521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914400"/>
                <a:gridCol w="914400"/>
                <a:gridCol w="914400"/>
                <a:gridCol w="9144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mg/dL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+60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+120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 (CGM only)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 + time of 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4572000"/>
            <a:ext cx="11155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 persistence at +60 min: -8.44 [-11.12, -6.24] mg/dL (95% patient-bootstrap CI); better for 20 of 20 patients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Ablations vs CGM-only at +60 min: time of day -2.11 [-2.70, -1.47] (expected by construction: synthetic meals are scheduled); personal baseline -0.05 [-1.02, 1.04]; static EHR +0.05 [-0.73, 0.86] - no reliable gain at +60 min (personal baseline helps only ~0.3 mg/dL at +15 min)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data: shows the pipeline works and recovers the generator's dynamics - not clinical accuracy. Preliminary.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data-quality behaviour and uncertainty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safe, show uncertainty, admit misses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 |  research prototype  |  not clinically validated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6" name="Image 0" descr="docs/figures/demo_withh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4206240" cy="1682496"/>
          </a:xfrm>
          <a:prstGeom prst="rect">
            <a:avLst/>
          </a:prstGeom>
        </p:spPr>
      </p:pic>
      <p:pic>
        <p:nvPicPr>
          <p:cNvPr id="7" name="Image 1" descr="docs/figures/demo_foreca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91840"/>
            <a:ext cx="4206240" cy="19659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37760" y="1463040"/>
            <a:ext cx="67665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(&gt; 20 min) or incomplete 60-min window: forecast withheld; 6.4% of observed test origins (synthetic missingness)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/ quarantined: naive or future timestamps, NaN, out-of-range values, conflicting duplicates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intervals: coverage 78-80% on test; per patient 71-85% (marginal guarantee only)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case: flat glucose before a meal (MAE 22.6 vs 12.1 mg/dL rising, +120 min); bottom-left: a breakfast spike escaping the interval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automated tests incl. leakage, restart, offline, additivity, dashboard; mutation-checked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Limitations, responsible use and next steps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 |  research prototype  |  not clinically validated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813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claimed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502920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validation or real-patient accuracy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for type 2 populations (data are synthetic)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effects of food, exercise or drugs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diagnosis, treatment or medication decisions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time-of-day or EHR gains transfer to real data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9050">
            <a:solidFill>
              <a:srgbClr val="0E8F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4813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0" y="1874520"/>
            <a:ext cx="502920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Run the ShanghaiT2DM adapter locally; verify columns, units, licence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Re-train and evaluate; report real-data results separately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Add meal/activity inputs only if real data support them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Clinician review and prospective evaluation before any clinical use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Resolve the project-name conflict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CF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 twin pipeline: fused history + stream, versioned forecasts, explanations, safe withholding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CF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held-out synthetic patients it beats persistence and ridge; value on real patients is untested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CF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and null findings are reported alongside positives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6C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[PUBLIC GITHUB URL - to be filled]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F6C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(20+ min, unlisted): [YOUTUBE URL - to be filled]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F6C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/ college / incubator: [to be filled]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C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proof of concept. Synthetic data. Not clinically validated. Not a medical device.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GlucoTwin - Digital Twin Challenge 2026</dc:title>
  <dc:subject>PptxGenJS Presentation</dc:subject>
  <dc:creator>PptxGenJS</dc:creator>
  <cp:lastModifiedBy>PptxGenJS</cp:lastModifiedBy>
  <cp:revision>1</cp:revision>
  <dcterms:created xsi:type="dcterms:W3CDTF">2026-10-24T10:58:43Z</dcterms:created>
  <dcterms:modified xsi:type="dcterms:W3CDTF">2026-10-24T10:58:43Z</dcterms:modified>
</cp:coreProperties>
</file>