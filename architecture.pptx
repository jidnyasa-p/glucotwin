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68880" y="182880"/>
            <a:ext cx="4572000" cy="548640"/>
          </a:xfrm>
          <a:prstGeom prst="roundRect">
            <a:avLst/>
          </a:prstGeom>
          <a:solidFill>
            <a:srgbClr val="EAF2F8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6324F"/>
                </a:solidFill>
              </a:rPr>
              <a:t>GlucoTwin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2468880" cy="731520"/>
          </a:xfrm>
          <a:prstGeom prst="roundRect">
            <a:avLst/>
          </a:prstGeom>
          <a:solidFill>
            <a:srgbClr val="EAF2F8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6324F"/>
                </a:solidFill>
              </a:rPr>
              <a:t>Historical context</a:t>
            </a:r>
          </a:p>
          <a:p>
            <a:pPr algn="ctr"/>
            <a:r>
              <a:rPr sz="1300" b="0">
                <a:solidFill>
                  <a:srgbClr val="16324F"/>
                </a:solidFill>
              </a:rPr>
              <a:t>Synthetic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097280"/>
            <a:ext cx="2468880" cy="731520"/>
          </a:xfrm>
          <a:prstGeom prst="roundRect">
            <a:avLst/>
          </a:prstGeom>
          <a:solidFill>
            <a:srgbClr val="EAF2F8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6324F"/>
                </a:solidFill>
              </a:rPr>
              <a:t>Dynamic stream</a:t>
            </a:r>
          </a:p>
          <a:p>
            <a:pPr algn="ctr"/>
            <a:r>
              <a:rPr sz="1300" b="0">
                <a:solidFill>
                  <a:srgbClr val="16324F"/>
                </a:solidFill>
              </a:rPr>
              <a:t>Synthetic glucose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097280"/>
            <a:ext cx="2468880" cy="731520"/>
          </a:xfrm>
          <a:prstGeom prst="roundRect">
            <a:avLst/>
          </a:prstGeom>
          <a:solidFill>
            <a:srgbClr val="EAF2F8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6324F"/>
                </a:solidFill>
              </a:rPr>
              <a:t>Ingestion &amp; validation</a:t>
            </a:r>
          </a:p>
          <a:p>
            <a:pPr algn="ctr"/>
            <a:r>
              <a:rPr sz="1300" b="0">
                <a:solidFill>
                  <a:srgbClr val="16324F"/>
                </a:solidFill>
              </a:rPr>
              <a:t>Provenance / value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2377440"/>
            <a:ext cx="2926080" cy="822960"/>
          </a:xfrm>
          <a:prstGeom prst="roundRect">
            <a:avLst/>
          </a:prstGeom>
          <a:solidFill>
            <a:srgbClr val="EAF2F8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6324F"/>
                </a:solidFill>
              </a:rPr>
              <a:t>Virtual patient state</a:t>
            </a:r>
          </a:p>
          <a:p>
            <a:pPr algn="ctr"/>
            <a:r>
              <a:rPr sz="1300" b="0">
                <a:solidFill>
                  <a:srgbClr val="16324F"/>
                </a:solidFill>
              </a:rPr>
              <a:t>History · recent readings · 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377440"/>
            <a:ext cx="2926080" cy="822960"/>
          </a:xfrm>
          <a:prstGeom prst="roundRect">
            <a:avLst/>
          </a:prstGeom>
          <a:solidFill>
            <a:srgbClr val="EAF2F8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6324F"/>
                </a:solidFill>
              </a:rPr>
              <a:t>Quality gate</a:t>
            </a:r>
          </a:p>
          <a:p>
            <a:pPr algn="ctr"/>
            <a:r>
              <a:rPr sz="1300" b="0">
                <a:solidFill>
                  <a:srgbClr val="16324F"/>
                </a:solidFill>
              </a:rPr>
              <a:t>Stale · gaps · insufficient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3749039"/>
            <a:ext cx="2926080" cy="822960"/>
          </a:xfrm>
          <a:prstGeom prst="roundRect">
            <a:avLst/>
          </a:prstGeom>
          <a:solidFill>
            <a:srgbClr val="EAF2F8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6324F"/>
                </a:solidFill>
              </a:rPr>
              <a:t>Forecasting model</a:t>
            </a:r>
          </a:p>
          <a:p>
            <a:pPr algn="ctr"/>
            <a:r>
              <a:rPr sz="1300" b="0">
                <a:solidFill>
                  <a:srgbClr val="16324F"/>
                </a:solidFill>
              </a:rPr>
              <a:t>Lag features · HGBR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3749039"/>
            <a:ext cx="2926080" cy="822960"/>
          </a:xfrm>
          <a:prstGeom prst="roundRect">
            <a:avLst/>
          </a:prstGeom>
          <a:solidFill>
            <a:srgbClr val="EAF2F8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6324F"/>
                </a:solidFill>
              </a:rPr>
              <a:t>Explanation / uncertainty</a:t>
            </a:r>
          </a:p>
          <a:p>
            <a:pPr algn="ctr"/>
            <a:r>
              <a:rPr sz="1300" b="0">
                <a:solidFill>
                  <a:srgbClr val="16324F"/>
                </a:solidFill>
              </a:rPr>
              <a:t>Input summaries · heuristic band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5029200"/>
            <a:ext cx="6400800" cy="731520"/>
          </a:xfrm>
          <a:prstGeom prst="roundRect">
            <a:avLst/>
          </a:prstGeom>
          <a:solidFill>
            <a:srgbClr val="EAF2F8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324F"/>
                </a:solidFill>
              </a:rPr>
              <a:t>Dashboard · observed vs predicted · what-if · audit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research prototype only · No clinical validation · Static context included as model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